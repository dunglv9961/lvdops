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6858000" type="screen4x3"/>
  <p:notesSz cx="6934200" cy="9220200"/>
  <p:defaultTextStyle>
    <a:defPPr>
      <a:defRPr lang="en-US"/>
    </a:defPPr>
    <a:lvl1pPr algn="ctr" rtl="0" fontAlgn="base">
      <a:spcBef>
        <a:spcPct val="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ctr" rtl="0" fontAlgn="base">
      <a:spcBef>
        <a:spcPct val="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ctr" rtl="0" fontAlgn="base">
      <a:spcBef>
        <a:spcPct val="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ctr" rtl="0" fontAlgn="base">
      <a:spcBef>
        <a:spcPct val="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ctr" rtl="0" fontAlgn="base">
      <a:spcBef>
        <a:spcPct val="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99"/>
    <a:srgbClr val="E1F4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9" autoAdjust="0"/>
    <p:restoredTop sz="98791" autoAdjust="0"/>
  </p:normalViewPr>
  <p:slideViewPr>
    <p:cSldViewPr snapToGrid="0">
      <p:cViewPr varScale="1">
        <p:scale>
          <a:sx n="70" d="100"/>
          <a:sy n="70" d="100"/>
        </p:scale>
        <p:origin x="-1290" y="-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05138" cy="460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309" tIns="46154" rIns="92309" bIns="46154" numCol="1" anchor="t" anchorCtr="0" compatLnSpc="1">
            <a:prstTxWarp prst="textNoShape">
              <a:avLst/>
            </a:prstTxWarp>
          </a:bodyPr>
          <a:lstStyle>
            <a:lvl1pPr algn="l" defTabSz="922338">
              <a:defRPr/>
            </a:lvl1pPr>
          </a:lstStyle>
          <a:p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27475" y="0"/>
            <a:ext cx="3005138" cy="460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309" tIns="46154" rIns="92309" bIns="46154" numCol="1" anchor="t" anchorCtr="0" compatLnSpc="1">
            <a:prstTxWarp prst="textNoShape">
              <a:avLst/>
            </a:prstTxWarp>
          </a:bodyPr>
          <a:lstStyle>
            <a:lvl1pPr algn="r" defTabSz="922338">
              <a:defRPr/>
            </a:lvl1pPr>
          </a:lstStyle>
          <a:p>
            <a:endParaRPr lang="en-US"/>
          </a:p>
        </p:txBody>
      </p:sp>
      <p:sp>
        <p:nvSpPr>
          <p:cNvPr id="3076" name="Rectangle 4"/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1162050" y="692150"/>
            <a:ext cx="4610100" cy="34575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93738" y="4379913"/>
            <a:ext cx="5546725" cy="41481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309" tIns="46154" rIns="92309" bIns="4615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758238"/>
            <a:ext cx="3005138" cy="460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309" tIns="46154" rIns="92309" bIns="46154" numCol="1" anchor="b" anchorCtr="0" compatLnSpc="1">
            <a:prstTxWarp prst="textNoShape">
              <a:avLst/>
            </a:prstTxWarp>
          </a:bodyPr>
          <a:lstStyle>
            <a:lvl1pPr algn="l" defTabSz="922338">
              <a:defRPr/>
            </a:lvl1pPr>
          </a:lstStyle>
          <a:p>
            <a:endParaRPr lang="en-US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27475" y="8758238"/>
            <a:ext cx="3005138" cy="460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309" tIns="46154" rIns="92309" bIns="46154" numCol="1" anchor="b" anchorCtr="0" compatLnSpc="1">
            <a:prstTxWarp prst="textNoShape">
              <a:avLst/>
            </a:prstTxWarp>
          </a:bodyPr>
          <a:lstStyle>
            <a:lvl1pPr algn="r" defTabSz="922338">
              <a:defRPr/>
            </a:lvl1pPr>
          </a:lstStyle>
          <a:p>
            <a:fld id="{1AA825C2-53EE-4E07-AF22-0D5298106180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82672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7E39AA3-0663-4742-ADCD-44D3DBCB3A45}" type="slidenum">
              <a:rPr lang="en-US"/>
              <a:pPr/>
              <a:t>1</a:t>
            </a:fld>
            <a:endParaRPr lang="en-US"/>
          </a:p>
        </p:txBody>
      </p:sp>
      <p:sp>
        <p:nvSpPr>
          <p:cNvPr id="4098" name="Rectangle 2"/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0DC3BE5-AC20-404C-B887-4DEBA0D2AA22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929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61B6AAF-5465-4704-8C03-72F6639AFF9C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4642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47F9F3-D063-4CBF-8DB8-F5B5001BBAAE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1172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774BF2B-F4D4-4109-8C01-9771E1CE7B8F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3611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99F8EAF-6C41-431C-A6FC-919D5CC6538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5615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60B44E3-7081-432E-85DE-4E0043BF2572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563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8666183-F4C9-4C39-8D89-688F7FCA9BF6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3616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DCD6EF3-3815-4D3F-A1FA-83ECF58DD33E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442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0C0F772-41F0-442E-BE55-2C0C49AD748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503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89322B2-93F7-419A-8519-DAF7A96E13A2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374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6194D0F-FB37-4A06-AC7E-9FA9F21EDFD9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568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  <a:endParaRPr lang="en-US" smtClean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smtClean="0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F337FB9E-3644-4898-B537-55E293C04523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4"/>
          <p:cNvSpPr>
            <a:spLocks noChangeArrowheads="1"/>
          </p:cNvSpPr>
          <p:nvPr/>
        </p:nvSpPr>
        <p:spPr bwMode="gray">
          <a:xfrm>
            <a:off x="7274256" y="3073400"/>
            <a:ext cx="1560182" cy="1371600"/>
          </a:xfrm>
          <a:prstGeom prst="rect">
            <a:avLst/>
          </a:prstGeom>
          <a:solidFill>
            <a:srgbClr val="E1F4FF"/>
          </a:solidFill>
          <a:ln w="12700">
            <a:solidFill>
              <a:schemeClr val="accent2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sz="1600" b="1" smtClean="0">
                <a:solidFill>
                  <a:srgbClr val="003399"/>
                </a:solidFill>
                <a:latin typeface="Verdana" pitchFamily="34" charset="0"/>
              </a:rPr>
              <a:t>SUPPORT </a:t>
            </a:r>
          </a:p>
          <a:p>
            <a:r>
              <a:rPr lang="en-US" sz="1600" b="1" smtClean="0">
                <a:solidFill>
                  <a:srgbClr val="003399"/>
                </a:solidFill>
                <a:latin typeface="Verdana" pitchFamily="34" charset="0"/>
              </a:rPr>
              <a:t>REQUEST </a:t>
            </a:r>
          </a:p>
          <a:p>
            <a:r>
              <a:rPr lang="en-US" sz="1600" b="1" smtClean="0">
                <a:solidFill>
                  <a:srgbClr val="003399"/>
                </a:solidFill>
                <a:latin typeface="Verdana" pitchFamily="34" charset="0"/>
              </a:rPr>
              <a:t>CREATED</a:t>
            </a:r>
            <a:endParaRPr lang="en-US" sz="1600" b="1">
              <a:solidFill>
                <a:srgbClr val="003399"/>
              </a:solidFill>
              <a:latin typeface="Verdana" pitchFamily="34" charset="0"/>
            </a:endParaRPr>
          </a:p>
        </p:txBody>
      </p:sp>
      <p:sp>
        <p:nvSpPr>
          <p:cNvPr id="2055" name="Text Box 7"/>
          <p:cNvSpPr txBox="1">
            <a:spLocks noChangeArrowheads="1"/>
          </p:cNvSpPr>
          <p:nvPr/>
        </p:nvSpPr>
        <p:spPr bwMode="auto">
          <a:xfrm>
            <a:off x="2819399" y="6086475"/>
            <a:ext cx="4454857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1400" b="1" smtClean="0">
                <a:solidFill>
                  <a:srgbClr val="003399"/>
                </a:solidFill>
                <a:latin typeface="Verdana" pitchFamily="34" charset="0"/>
              </a:rPr>
              <a:t>Using https://support.emc.com/</a:t>
            </a:r>
            <a:endParaRPr lang="en-US" sz="1400" b="1">
              <a:solidFill>
                <a:srgbClr val="003399"/>
              </a:solidFill>
              <a:latin typeface="Verdana" pitchFamily="34" charset="0"/>
            </a:endParaRPr>
          </a:p>
        </p:txBody>
      </p:sp>
      <p:sp>
        <p:nvSpPr>
          <p:cNvPr id="2063" name="Text Box 15"/>
          <p:cNvSpPr txBox="1">
            <a:spLocks noChangeArrowheads="1"/>
          </p:cNvSpPr>
          <p:nvPr/>
        </p:nvSpPr>
        <p:spPr bwMode="auto">
          <a:xfrm>
            <a:off x="77788" y="1149349"/>
            <a:ext cx="33528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1400" b="1" smtClean="0">
                <a:solidFill>
                  <a:srgbClr val="003399"/>
                </a:solidFill>
                <a:latin typeface="Verdana" pitchFamily="34" charset="0"/>
              </a:rPr>
              <a:t>Call hotline +84 12032266/67</a:t>
            </a:r>
            <a:endParaRPr lang="en-US" sz="1400" b="1">
              <a:solidFill>
                <a:srgbClr val="003399"/>
              </a:solidFill>
              <a:latin typeface="Verdana" pitchFamily="34" charset="0"/>
            </a:endParaRPr>
          </a:p>
        </p:txBody>
      </p:sp>
      <p:sp>
        <p:nvSpPr>
          <p:cNvPr id="2065" name="Text Box 17"/>
          <p:cNvSpPr txBox="1">
            <a:spLocks noChangeArrowheads="1"/>
          </p:cNvSpPr>
          <p:nvPr/>
        </p:nvSpPr>
        <p:spPr bwMode="auto">
          <a:xfrm>
            <a:off x="3987800" y="1149350"/>
            <a:ext cx="3286456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1400" b="1" smtClean="0">
                <a:solidFill>
                  <a:srgbClr val="003399"/>
                </a:solidFill>
                <a:latin typeface="Verdana" pitchFamily="34" charset="0"/>
              </a:rPr>
              <a:t>Call EMC Vietnam engineer</a:t>
            </a:r>
            <a:endParaRPr lang="en-US" sz="1400" b="1">
              <a:solidFill>
                <a:srgbClr val="003399"/>
              </a:solidFill>
              <a:latin typeface="Verdana" pitchFamily="34" charset="0"/>
            </a:endParaRPr>
          </a:p>
        </p:txBody>
      </p:sp>
      <p:sp>
        <p:nvSpPr>
          <p:cNvPr id="2097" name="Text Box 49"/>
          <p:cNvSpPr txBox="1">
            <a:spLocks noChangeArrowheads="1"/>
          </p:cNvSpPr>
          <p:nvPr/>
        </p:nvSpPr>
        <p:spPr bwMode="auto">
          <a:xfrm>
            <a:off x="774700" y="342900"/>
            <a:ext cx="74803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smtClean="0">
                <a:solidFill>
                  <a:srgbClr val="003399"/>
                </a:solidFill>
                <a:latin typeface="Verdana" pitchFamily="34" charset="0"/>
              </a:rPr>
              <a:t>RAISE SUPPORT REQUEST TO EMC</a:t>
            </a:r>
            <a:endParaRPr lang="en-US" sz="2000">
              <a:solidFill>
                <a:srgbClr val="003399"/>
              </a:solidFill>
              <a:latin typeface="Verdana" pitchFamily="34" charset="0"/>
            </a:endParaRPr>
          </a:p>
        </p:txBody>
      </p:sp>
      <p:sp>
        <p:nvSpPr>
          <p:cNvPr id="2100" name="Line 52"/>
          <p:cNvSpPr>
            <a:spLocks noChangeShapeType="1"/>
          </p:cNvSpPr>
          <p:nvPr/>
        </p:nvSpPr>
        <p:spPr bwMode="auto">
          <a:xfrm>
            <a:off x="245660" y="3759200"/>
            <a:ext cx="7028596" cy="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95" name="Rectangle 47"/>
          <p:cNvSpPr>
            <a:spLocks noChangeArrowheads="1"/>
          </p:cNvSpPr>
          <p:nvPr/>
        </p:nvSpPr>
        <p:spPr bwMode="auto">
          <a:xfrm>
            <a:off x="4014788" y="2699317"/>
            <a:ext cx="1337291" cy="830997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</p:spPr>
        <p:txBody>
          <a:bodyPr wrap="square" anchor="ctr" anchorCtr="1">
            <a:spAutoFit/>
          </a:bodyPr>
          <a:lstStyle/>
          <a:p>
            <a:r>
              <a:rPr lang="en-US" smtClean="0">
                <a:latin typeface="Verdana" pitchFamily="34" charset="0"/>
              </a:rPr>
              <a:t>Send email and add more information if needed</a:t>
            </a:r>
            <a:endParaRPr lang="en-US">
              <a:latin typeface="Verdana" pitchFamily="34" charset="0"/>
            </a:endParaRPr>
          </a:p>
        </p:txBody>
      </p:sp>
      <p:sp>
        <p:nvSpPr>
          <p:cNvPr id="2101" name="Line 53"/>
          <p:cNvSpPr>
            <a:spLocks noChangeShapeType="1"/>
          </p:cNvSpPr>
          <p:nvPr/>
        </p:nvSpPr>
        <p:spPr bwMode="auto">
          <a:xfrm>
            <a:off x="5352080" y="3114815"/>
            <a:ext cx="1253436" cy="0"/>
          </a:xfrm>
          <a:prstGeom prst="line">
            <a:avLst/>
          </a:prstGeom>
          <a:noFill/>
          <a:ln w="6350">
            <a:solidFill>
              <a:schemeClr val="accent2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85" name="Rectangle 37"/>
          <p:cNvSpPr>
            <a:spLocks noChangeArrowheads="1"/>
          </p:cNvSpPr>
          <p:nvPr/>
        </p:nvSpPr>
        <p:spPr bwMode="auto">
          <a:xfrm>
            <a:off x="3843338" y="1535347"/>
            <a:ext cx="1500188" cy="646331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</p:spPr>
        <p:txBody>
          <a:bodyPr wrap="square" anchor="ctr" anchorCtr="1">
            <a:spAutoFit/>
          </a:bodyPr>
          <a:lstStyle/>
          <a:p>
            <a:r>
              <a:rPr lang="en-US" smtClean="0">
                <a:latin typeface="Verdana" pitchFamily="34" charset="0"/>
              </a:rPr>
              <a:t>Call and notify issue/problem situation</a:t>
            </a:r>
            <a:endParaRPr lang="en-US">
              <a:latin typeface="Verdana" pitchFamily="34" charset="0"/>
            </a:endParaRPr>
          </a:p>
        </p:txBody>
      </p:sp>
      <p:sp>
        <p:nvSpPr>
          <p:cNvPr id="2102" name="Line 54"/>
          <p:cNvSpPr>
            <a:spLocks noChangeShapeType="1"/>
          </p:cNvSpPr>
          <p:nvPr/>
        </p:nvSpPr>
        <p:spPr bwMode="auto">
          <a:xfrm>
            <a:off x="5343526" y="1858512"/>
            <a:ext cx="770671" cy="0"/>
          </a:xfrm>
          <a:prstGeom prst="line">
            <a:avLst/>
          </a:prstGeom>
          <a:noFill/>
          <a:ln w="6350">
            <a:solidFill>
              <a:schemeClr val="accent2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80" name="Rectangle 32"/>
          <p:cNvSpPr>
            <a:spLocks noChangeArrowheads="1"/>
          </p:cNvSpPr>
          <p:nvPr/>
        </p:nvSpPr>
        <p:spPr bwMode="auto">
          <a:xfrm>
            <a:off x="245660" y="2944167"/>
            <a:ext cx="2256240" cy="461665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</p:spPr>
        <p:txBody>
          <a:bodyPr wrap="square" anchor="ctr" anchorCtr="1">
            <a:spAutoFit/>
          </a:bodyPr>
          <a:lstStyle/>
          <a:p>
            <a:r>
              <a:rPr lang="en-US" smtClean="0">
                <a:latin typeface="Verdana" pitchFamily="34" charset="0"/>
              </a:rPr>
              <a:t>Get number of created suport request</a:t>
            </a:r>
            <a:endParaRPr lang="en-US">
              <a:latin typeface="Verdana" pitchFamily="34" charset="0"/>
            </a:endParaRPr>
          </a:p>
        </p:txBody>
      </p:sp>
      <p:sp>
        <p:nvSpPr>
          <p:cNvPr id="2103" name="Line 55"/>
          <p:cNvSpPr>
            <a:spLocks noChangeShapeType="1"/>
          </p:cNvSpPr>
          <p:nvPr/>
        </p:nvSpPr>
        <p:spPr bwMode="auto">
          <a:xfrm>
            <a:off x="2516188" y="3175000"/>
            <a:ext cx="914400" cy="0"/>
          </a:xfrm>
          <a:prstGeom prst="line">
            <a:avLst/>
          </a:prstGeom>
          <a:noFill/>
          <a:ln w="6350">
            <a:solidFill>
              <a:schemeClr val="accent2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83" name="Rectangle 35"/>
          <p:cNvSpPr>
            <a:spLocks noChangeArrowheads="1"/>
          </p:cNvSpPr>
          <p:nvPr/>
        </p:nvSpPr>
        <p:spPr bwMode="auto">
          <a:xfrm>
            <a:off x="245660" y="2432199"/>
            <a:ext cx="1989540" cy="461665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</p:spPr>
        <p:txBody>
          <a:bodyPr wrap="square" anchor="ctr" anchorCtr="1">
            <a:spAutoFit/>
          </a:bodyPr>
          <a:lstStyle/>
          <a:p>
            <a:r>
              <a:rPr lang="en-US" smtClean="0">
                <a:latin typeface="Verdana" pitchFamily="34" charset="0"/>
              </a:rPr>
              <a:t>Provide situation of issue/problems</a:t>
            </a:r>
            <a:endParaRPr lang="en-US">
              <a:latin typeface="Verdana" pitchFamily="34" charset="0"/>
            </a:endParaRPr>
          </a:p>
        </p:txBody>
      </p:sp>
      <p:sp>
        <p:nvSpPr>
          <p:cNvPr id="2104" name="Line 56"/>
          <p:cNvSpPr>
            <a:spLocks noChangeShapeType="1"/>
          </p:cNvSpPr>
          <p:nvPr/>
        </p:nvSpPr>
        <p:spPr bwMode="auto">
          <a:xfrm flipV="1">
            <a:off x="2235200" y="2676525"/>
            <a:ext cx="877887" cy="0"/>
          </a:xfrm>
          <a:prstGeom prst="line">
            <a:avLst/>
          </a:prstGeom>
          <a:noFill/>
          <a:ln w="6350">
            <a:solidFill>
              <a:schemeClr val="accent2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79" name="Rectangle 31"/>
          <p:cNvSpPr>
            <a:spLocks noChangeArrowheads="1"/>
          </p:cNvSpPr>
          <p:nvPr/>
        </p:nvSpPr>
        <p:spPr bwMode="auto">
          <a:xfrm>
            <a:off x="245660" y="1715443"/>
            <a:ext cx="1700615" cy="461665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</p:spPr>
        <p:txBody>
          <a:bodyPr wrap="square" anchor="ctr" anchorCtr="1">
            <a:spAutoFit/>
          </a:bodyPr>
          <a:lstStyle/>
          <a:p>
            <a:r>
              <a:rPr lang="en-US" smtClean="0">
                <a:latin typeface="Verdana" pitchFamily="34" charset="0"/>
              </a:rPr>
              <a:t>Provide serial number of product</a:t>
            </a:r>
            <a:endParaRPr lang="en-US">
              <a:latin typeface="Verdana" pitchFamily="34" charset="0"/>
            </a:endParaRPr>
          </a:p>
        </p:txBody>
      </p:sp>
      <p:sp>
        <p:nvSpPr>
          <p:cNvPr id="2105" name="Line 57"/>
          <p:cNvSpPr>
            <a:spLocks noChangeShapeType="1"/>
          </p:cNvSpPr>
          <p:nvPr/>
        </p:nvSpPr>
        <p:spPr bwMode="auto">
          <a:xfrm>
            <a:off x="1946275" y="1966392"/>
            <a:ext cx="914400" cy="0"/>
          </a:xfrm>
          <a:prstGeom prst="line">
            <a:avLst/>
          </a:prstGeom>
          <a:noFill/>
          <a:ln w="6350">
            <a:solidFill>
              <a:schemeClr val="accent2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73" name="Rectangle 25"/>
          <p:cNvSpPr>
            <a:spLocks noChangeArrowheads="1"/>
          </p:cNvSpPr>
          <p:nvPr/>
        </p:nvSpPr>
        <p:spPr bwMode="auto">
          <a:xfrm>
            <a:off x="245660" y="4168666"/>
            <a:ext cx="2707090" cy="646331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</p:spPr>
        <p:txBody>
          <a:bodyPr wrap="square" anchor="ctr" anchorCtr="1">
            <a:spAutoFit/>
          </a:bodyPr>
          <a:lstStyle/>
          <a:p>
            <a:r>
              <a:rPr lang="en-US" smtClean="0">
                <a:latin typeface="Verdana" pitchFamily="34" charset="0"/>
              </a:rPr>
              <a:t>Fill in information, select product then press Submit button to raise request</a:t>
            </a:r>
            <a:endParaRPr lang="en-US">
              <a:latin typeface="Verdana" pitchFamily="34" charset="0"/>
            </a:endParaRPr>
          </a:p>
        </p:txBody>
      </p:sp>
      <p:sp>
        <p:nvSpPr>
          <p:cNvPr id="2106" name="Line 58"/>
          <p:cNvSpPr>
            <a:spLocks noChangeShapeType="1"/>
          </p:cNvSpPr>
          <p:nvPr/>
        </p:nvSpPr>
        <p:spPr bwMode="auto">
          <a:xfrm>
            <a:off x="2952750" y="4491831"/>
            <a:ext cx="1709738" cy="26194"/>
          </a:xfrm>
          <a:prstGeom prst="line">
            <a:avLst/>
          </a:prstGeom>
          <a:noFill/>
          <a:ln w="6350">
            <a:solidFill>
              <a:schemeClr val="accent2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77" name="Rectangle 29"/>
          <p:cNvSpPr>
            <a:spLocks noChangeArrowheads="1"/>
          </p:cNvSpPr>
          <p:nvPr/>
        </p:nvSpPr>
        <p:spPr bwMode="auto">
          <a:xfrm>
            <a:off x="245660" y="4899432"/>
            <a:ext cx="2588028" cy="276999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</p:spPr>
        <p:txBody>
          <a:bodyPr wrap="square" anchor="ctr" anchorCtr="1">
            <a:spAutoFit/>
          </a:bodyPr>
          <a:lstStyle/>
          <a:p>
            <a:r>
              <a:rPr lang="en-US" smtClean="0">
                <a:latin typeface="Verdana" pitchFamily="34" charset="0"/>
              </a:rPr>
              <a:t>Select device in base</a:t>
            </a:r>
            <a:endParaRPr lang="en-US">
              <a:latin typeface="Verdana" pitchFamily="34" charset="0"/>
            </a:endParaRPr>
          </a:p>
        </p:txBody>
      </p:sp>
      <p:sp>
        <p:nvSpPr>
          <p:cNvPr id="2107" name="Line 59"/>
          <p:cNvSpPr>
            <a:spLocks noChangeShapeType="1"/>
          </p:cNvSpPr>
          <p:nvPr/>
        </p:nvSpPr>
        <p:spPr bwMode="auto">
          <a:xfrm>
            <a:off x="2819398" y="5064125"/>
            <a:ext cx="1538289" cy="0"/>
          </a:xfrm>
          <a:prstGeom prst="line">
            <a:avLst/>
          </a:prstGeom>
          <a:noFill/>
          <a:ln w="6350">
            <a:solidFill>
              <a:schemeClr val="accent2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74" name="Rectangle 26"/>
          <p:cNvSpPr>
            <a:spLocks noChangeArrowheads="1"/>
          </p:cNvSpPr>
          <p:nvPr/>
        </p:nvSpPr>
        <p:spPr bwMode="auto">
          <a:xfrm>
            <a:off x="876300" y="5434013"/>
            <a:ext cx="1333500" cy="274637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</p:spPr>
        <p:txBody>
          <a:bodyPr anchor="ctr" anchorCtr="1">
            <a:spAutoFit/>
          </a:bodyPr>
          <a:lstStyle/>
          <a:p>
            <a:r>
              <a:rPr lang="en-US" smtClean="0">
                <a:latin typeface="Verdana" pitchFamily="34" charset="0"/>
              </a:rPr>
              <a:t>Log in</a:t>
            </a:r>
            <a:endParaRPr lang="en-US">
              <a:latin typeface="Verdana" pitchFamily="34" charset="0"/>
            </a:endParaRPr>
          </a:p>
        </p:txBody>
      </p:sp>
      <p:sp>
        <p:nvSpPr>
          <p:cNvPr id="2108" name="Line 60"/>
          <p:cNvSpPr>
            <a:spLocks noChangeShapeType="1"/>
          </p:cNvSpPr>
          <p:nvPr/>
        </p:nvSpPr>
        <p:spPr bwMode="auto">
          <a:xfrm>
            <a:off x="2185988" y="5597525"/>
            <a:ext cx="1828800" cy="0"/>
          </a:xfrm>
          <a:prstGeom prst="line">
            <a:avLst/>
          </a:prstGeom>
          <a:noFill/>
          <a:ln w="6350">
            <a:solidFill>
              <a:schemeClr val="accent2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09" name="Line 61"/>
          <p:cNvSpPr>
            <a:spLocks noChangeShapeType="1"/>
          </p:cNvSpPr>
          <p:nvPr/>
        </p:nvSpPr>
        <p:spPr bwMode="auto">
          <a:xfrm>
            <a:off x="5964071" y="1457126"/>
            <a:ext cx="887105" cy="2302074"/>
          </a:xfrm>
          <a:prstGeom prst="line">
            <a:avLst/>
          </a:prstGeom>
          <a:noFill/>
          <a:ln w="6350">
            <a:solidFill>
              <a:schemeClr val="accent2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10" name="Line 62"/>
          <p:cNvSpPr>
            <a:spLocks noChangeShapeType="1"/>
          </p:cNvSpPr>
          <p:nvPr/>
        </p:nvSpPr>
        <p:spPr bwMode="auto">
          <a:xfrm>
            <a:off x="2582863" y="1487488"/>
            <a:ext cx="1260475" cy="2184400"/>
          </a:xfrm>
          <a:prstGeom prst="line">
            <a:avLst/>
          </a:prstGeom>
          <a:noFill/>
          <a:ln w="6350">
            <a:solidFill>
              <a:schemeClr val="accent2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11" name="Line 63"/>
          <p:cNvSpPr>
            <a:spLocks noChangeShapeType="1"/>
          </p:cNvSpPr>
          <p:nvPr/>
        </p:nvSpPr>
        <p:spPr bwMode="auto">
          <a:xfrm rot="10800000" flipH="1">
            <a:off x="3886200" y="3873500"/>
            <a:ext cx="1260475" cy="2184400"/>
          </a:xfrm>
          <a:prstGeom prst="line">
            <a:avLst/>
          </a:prstGeom>
          <a:noFill/>
          <a:ln w="6350">
            <a:solidFill>
              <a:schemeClr val="accent2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649" y="280632"/>
            <a:ext cx="2724150" cy="2857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cap="flat" cmpd="sng" algn="ctr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7004" y="280632"/>
            <a:ext cx="4676775" cy="3257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cap="flat" cmpd="sng" algn="ctr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Right Arrow 3"/>
          <p:cNvSpPr/>
          <p:nvPr/>
        </p:nvSpPr>
        <p:spPr bwMode="auto">
          <a:xfrm>
            <a:off x="3316406" y="1433015"/>
            <a:ext cx="614149" cy="476392"/>
          </a:xfrm>
          <a:prstGeom prst="rightArrow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694830" y="3766782"/>
            <a:ext cx="40989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smtClean="0">
                <a:solidFill>
                  <a:srgbClr val="FF0000"/>
                </a:solidFill>
              </a:rPr>
              <a:t>Select Service Request or Part Replacement if need to replace fault hardware </a:t>
            </a:r>
            <a:endParaRPr lang="en-US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7278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04" y="528424"/>
            <a:ext cx="8305800" cy="5200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cap="flat" cmpd="sng" algn="ctr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136477" y="6261336"/>
            <a:ext cx="88164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smtClean="0">
                <a:solidFill>
                  <a:srgbClr val="FF0000"/>
                </a:solidFill>
              </a:rPr>
              <a:t>Select Account Sites and select LG Display Vietnam Hai Phong then select device(s) need support from list</a:t>
            </a:r>
            <a:endParaRPr lang="en-US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38627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980" y="189435"/>
            <a:ext cx="5372100" cy="3476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cap="flat" cmpd="sng" algn="ctr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400" y="4010664"/>
            <a:ext cx="7991475" cy="24669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cap="flat" cmpd="sng" algn="ctr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5813947" y="2618737"/>
            <a:ext cx="30434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smtClean="0">
                <a:solidFill>
                  <a:srgbClr val="FF0000"/>
                </a:solidFill>
              </a:rPr>
              <a:t>Fill in information in summary and description then select problem severity and fill in business impact</a:t>
            </a:r>
            <a:endParaRPr lang="en-US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36964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608" y="270965"/>
            <a:ext cx="8039100" cy="1866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cap="flat" cmpd="sng" algn="ctr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199" y="2503085"/>
            <a:ext cx="8067675" cy="2343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cap="flat" cmpd="sng" algn="ctr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72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199" y="5329308"/>
            <a:ext cx="3143250" cy="1276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cap="flat" cmpd="sng" algn="ctr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3944203" y="5227093"/>
            <a:ext cx="4804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smtClean="0">
                <a:solidFill>
                  <a:srgbClr val="FF0000"/>
                </a:solidFill>
              </a:rPr>
              <a:t>Click Edit Contact Information if you need to change contact information then click Submit Service Request to create SR</a:t>
            </a:r>
            <a:endParaRPr lang="en-US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39179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013" y="286603"/>
            <a:ext cx="8625384" cy="54539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cap="flat" cmpd="sng" algn="ctr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122830" y="5964072"/>
            <a:ext cx="88437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smtClean="0">
                <a:solidFill>
                  <a:srgbClr val="FF0000"/>
                </a:solidFill>
              </a:rPr>
              <a:t>In Support Website we can see information for created suport request</a:t>
            </a:r>
            <a:endParaRPr lang="en-US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77515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Cause and effect diagram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Cause and effect diagram</Template>
  <TotalTime>100</TotalTime>
  <Words>146</Words>
  <Application>Microsoft Office PowerPoint</Application>
  <PresentationFormat>On-screen Show (4:3)</PresentationFormat>
  <Paragraphs>21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Verdana</vt:lpstr>
      <vt:lpstr>Cause and effect diagram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 Viet Dung</dc:creator>
  <cp:lastModifiedBy>Le Viet Dung</cp:lastModifiedBy>
  <cp:revision>15</cp:revision>
  <dcterms:created xsi:type="dcterms:W3CDTF">2017-08-01T06:34:20Z</dcterms:created>
  <dcterms:modified xsi:type="dcterms:W3CDTF">2017-08-01T08:14:48Z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TC060827371033</vt:lpwstr>
  </property>
</Properties>
</file>